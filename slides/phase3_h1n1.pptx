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59" r:id="rId5"/>
    <p:sldId id="273" r:id="rId6"/>
    <p:sldId id="261" r:id="rId7"/>
    <p:sldId id="265" r:id="rId8"/>
    <p:sldId id="260" r:id="rId9"/>
    <p:sldId id="262" r:id="rId10"/>
    <p:sldId id="267" r:id="rId11"/>
    <p:sldId id="263" r:id="rId12"/>
    <p:sldId id="264" r:id="rId13"/>
    <p:sldId id="266" r:id="rId14"/>
    <p:sldId id="269" r:id="rId15"/>
    <p:sldId id="268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91770FF-3A66-0471-F893-52C4308569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4130E8-0BC6-6163-D775-790277387B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625FD-0E7A-45F7-8837-F4CFA5CA4782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93F40E-4444-DF21-1BDF-C225E20E917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7C3259-1637-3FC3-E53A-3C93E29362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A3CA9-F721-4D42-9EB7-07BB2D8A5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1408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EBC110-5F59-42E7-93AD-C27647CAAA1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DC7BAA-66C5-4631-AEC4-E5CD0AF8A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633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C7BAA-66C5-4631-AEC4-E5CD0AF8AE9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82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188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519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513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99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386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231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01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243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001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953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437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189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918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5176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7157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5057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664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76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6E656-0561-4EB8-877A-E3DEBA0EFD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Predicting H1N1 Vaccination Uptake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6DAE40-C963-C756-AF96-2EFB6B2891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Justin Mawira</a:t>
            </a:r>
          </a:p>
        </p:txBody>
      </p:sp>
    </p:spTree>
    <p:extLst>
      <p:ext uri="{BB962C8B-B14F-4D97-AF65-F5344CB8AC3E}">
        <p14:creationId xmlns:p14="http://schemas.microsoft.com/office/powerpoint/2010/main" val="991299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953C4-4224-662F-8DDB-C3D5754AC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D5D91-23F0-D0A6-C20A-2F1EC38F6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want to understand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gets vaccinated and why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public health campaigns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prepare for future pandemics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target resources effectively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196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12AA4-C414-EE9E-963E-5C5A75FA1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8F628-A1DF-1C67-10F1-EA706986A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26,000+ respondents from the 2009 National H1N1 Flu Survey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was looked at: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Opinions: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vaccine safe? Am I at risk?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Behaviours: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they wear masks? Wash hands?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Age, income, race, and employment.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907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4A98C-7073-5A41-F0F7-F1FD7241E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D5D65-854C-0BFD-7B0F-9E5FA5B76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 fixing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</p:txBody>
      </p:sp>
    </p:spTree>
    <p:extLst>
      <p:ext uri="{BB962C8B-B14F-4D97-AF65-F5344CB8AC3E}">
        <p14:creationId xmlns:p14="http://schemas.microsoft.com/office/powerpoint/2010/main" val="2551956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C258D-5CBB-1C63-D073-DAE5E214A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989A7-ADCA-AFB2-B2BF-3CF74762C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Vaccination Rate by Opinion on Vaccine Effectiveness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Vaccination Rate by Opinion on H1N1 Risk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Vaccination Rate by Doctor’s Recommendation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Vaccination Rate: Doctor’s Rec x Opinion on H1N1 Risk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Vaccination Rate: Income x Risk (w/,w/o Rec)</a:t>
            </a:r>
          </a:p>
        </p:txBody>
      </p:sp>
    </p:spTree>
    <p:extLst>
      <p:ext uri="{BB962C8B-B14F-4D97-AF65-F5344CB8AC3E}">
        <p14:creationId xmlns:p14="http://schemas.microsoft.com/office/powerpoint/2010/main" val="2243435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18BA5-A462-E467-BC32-C8A229F65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E0267B-911E-A422-E046-9B3B38BEA3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8547" y="2433606"/>
            <a:ext cx="5694226" cy="424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233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167F-66B5-6AEF-2D89-972D60E43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157565-1ECF-8EFF-DEBB-38C3B2CA75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7035" y="2377441"/>
            <a:ext cx="5757250" cy="429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654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10387-6693-B73E-ADA9-C95D7F38F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87992A-2B62-0131-7D63-E7AC146EE0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0822" y="2395728"/>
            <a:ext cx="5849675" cy="4364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770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DD8DD-293C-5E7C-8747-91E51CCC8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E339D6-5170-CF92-16B0-0860E80DD3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7560" y="2458989"/>
            <a:ext cx="5876199" cy="431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557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3C84A-1C59-D9B8-046E-97C27471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673C4C-8F40-CB58-954F-B9A405CA2B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4954" y="2496312"/>
            <a:ext cx="1009079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184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B92E3-A2F4-F45C-D6AE-3C54EC5A3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Findings: The “Doctor Factor”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D185E-13B5-10F9-32E3-21B3337B0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doctor’s recommendation is the single strongest predictor of vaccination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Individuals who received a recommendation were significantly more likely to vaccinate, even if they originally thought their personal risk was low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people who feel at risk don’t always vaccinate — unless advised by a doctor (at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5 perceived risk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37%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doctor’s rec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vs. </a:t>
            </a:r>
            <a:r>
              <a:rPr lang="en-US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73% with doctor’s rec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439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F7921-3CA8-D65C-69DE-54B29F3F7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Findings: Mindset Matters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FDC2E-4427-94A3-8BAA-2D43BB2DF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People who believe the vaccine works are nearly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 likely to get it than skeptics (40% vs 5%)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people don’t feel they are in danger of getting sick, they don't get the shot. (rate of 10% at risk level 1 vs. 50% at risk level 5)</a:t>
            </a:r>
          </a:p>
        </p:txBody>
      </p:sp>
    </p:spTree>
    <p:extLst>
      <p:ext uri="{BB962C8B-B14F-4D97-AF65-F5344CB8AC3E}">
        <p14:creationId xmlns:p14="http://schemas.microsoft.com/office/powerpoint/2010/main" val="1437628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F3F9A-1F6E-7BC6-B307-0617DD966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Findings: Socio-economic Barriers</a:t>
            </a:r>
            <a:b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B3427-8A4B-0FCD-02C0-30783BC22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High-income individuals who feel "at risk" vaccinate at higher rates than low-income individuals who feel the same level of risk (esp. when the latter do not have a doctor’s rec)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respondents and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45–54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 group also showed slightly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vaccination likelihoods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this dataset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It’s not just about "wanting" the vaccine; it’s about access and systemic trust.</a:t>
            </a:r>
          </a:p>
        </p:txBody>
      </p:sp>
    </p:spTree>
    <p:extLst>
      <p:ext uri="{BB962C8B-B14F-4D97-AF65-F5344CB8AC3E}">
        <p14:creationId xmlns:p14="http://schemas.microsoft.com/office/powerpoint/2010/main" val="3084543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2BDC7-6A53-DA50-7041-1C3A2A41F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factors</a:t>
            </a:r>
            <a:b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016BA-615C-A57A-FFE4-B0CC92B3D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employment environment had significant correlation with vaccination status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30% of individuals who reported wearing masks tended to be vaccinated, while 20% of those who didn’t were vaccinated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22% of individuals who reported hand-washing tended to be vaccinated, while 14% of those who didn’t were vaccinated</a:t>
            </a:r>
          </a:p>
        </p:txBody>
      </p:sp>
    </p:spTree>
    <p:extLst>
      <p:ext uri="{BB962C8B-B14F-4D97-AF65-F5344CB8AC3E}">
        <p14:creationId xmlns:p14="http://schemas.microsoft.com/office/powerpoint/2010/main" val="1032939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A306B-3578-7627-7DCE-129CDC991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</a:t>
            </a:r>
            <a:b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9D741-32A6-5853-FFE5-5A5A730B2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model types were tested and the winner was Logistic Regression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achieved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 of 0.83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English; on a scale of 0.5 (guessing) to 1.0 (perfect), 0.83 means the model is very strong at distinguishing between those who will and won't get vaccinated</a:t>
            </a:r>
          </a:p>
        </p:txBody>
      </p:sp>
    </p:spTree>
    <p:extLst>
      <p:ext uri="{BB962C8B-B14F-4D97-AF65-F5344CB8AC3E}">
        <p14:creationId xmlns:p14="http://schemas.microsoft.com/office/powerpoint/2010/main" val="2065823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275D8-CBA3-5391-CA5B-69DD5689D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b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7E3C7-6AC7-4110-766C-F845B194E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doctors to promote vaccines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campaigns specifically targeting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vaccine works to build trust in vaccine effectiveness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 the likelihood (and severity) of infection during campaigns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lower-uptake demographic groups (e.g., Black communities and lower-income households) to bridge the trust gap and address systemic barriers</a:t>
            </a:r>
          </a:p>
        </p:txBody>
      </p:sp>
    </p:spTree>
    <p:extLst>
      <p:ext uri="{BB962C8B-B14F-4D97-AF65-F5344CB8AC3E}">
        <p14:creationId xmlns:p14="http://schemas.microsoft.com/office/powerpoint/2010/main" val="1503430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55D32-D647-B0D4-88FD-EB4C4C6CB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Impact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38044-EF2E-65FF-28AE-70571D033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vaccination rates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targeted campaigns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efficient resource use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965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3F803ED7-1B50-25C4-27DE-DBA612532E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22706" y="2375576"/>
            <a:ext cx="7746588" cy="43574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A0B203-FC11-134C-49FC-57E2C962B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Don’t be like RFK Jr </a:t>
            </a:r>
            <a:r>
              <a:rPr lang="en-US" dirty="0"/>
              <a:t>— Questions?</a:t>
            </a:r>
            <a:endParaRPr lang="en-US" b="1" dirty="0">
              <a:solidFill>
                <a:schemeClr val="accent4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5653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176</TotalTime>
  <Words>565</Words>
  <Application>Microsoft Office PowerPoint</Application>
  <PresentationFormat>Widescreen</PresentationFormat>
  <Paragraphs>66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Century Gothic</vt:lpstr>
      <vt:lpstr>Times New Roman</vt:lpstr>
      <vt:lpstr>Wingdings 3</vt:lpstr>
      <vt:lpstr>Ion Boardroom</vt:lpstr>
      <vt:lpstr>Predicting H1N1 Vaccination Uptake</vt:lpstr>
      <vt:lpstr>Overview of The Task</vt:lpstr>
      <vt:lpstr>The Data</vt:lpstr>
      <vt:lpstr>Data Handling</vt:lpstr>
      <vt:lpstr>Visualizations</vt:lpstr>
      <vt:lpstr>Visual 1</vt:lpstr>
      <vt:lpstr>Visual 2</vt:lpstr>
      <vt:lpstr>Visual 3</vt:lpstr>
      <vt:lpstr>Visual 4</vt:lpstr>
      <vt:lpstr>Visual 5</vt:lpstr>
      <vt:lpstr>Findings: The “Doctor Factor”</vt:lpstr>
      <vt:lpstr>Findings: Mindset Matters</vt:lpstr>
      <vt:lpstr>Findings: Socio-economic Barriers </vt:lpstr>
      <vt:lpstr>Other factors </vt:lpstr>
      <vt:lpstr>The Model </vt:lpstr>
      <vt:lpstr>Recommendations </vt:lpstr>
      <vt:lpstr>Potential Impact</vt:lpstr>
      <vt:lpstr>Don’t be like RFK Jr —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Mawira</dc:creator>
  <cp:lastModifiedBy>Mawira</cp:lastModifiedBy>
  <cp:revision>7</cp:revision>
  <dcterms:created xsi:type="dcterms:W3CDTF">2026-03-22T14:50:03Z</dcterms:created>
  <dcterms:modified xsi:type="dcterms:W3CDTF">2026-03-22T17:46:21Z</dcterms:modified>
</cp:coreProperties>
</file>